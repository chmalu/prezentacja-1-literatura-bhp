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30 s. Przedstaw się i powiedz temat jednym zdaniem: buduję system, który z obrazu kamer na placu budowy w czasie rzeczywistym wykrywa osoby bez kasku albo bez kamizelki odblaskowej. Przed wystąpieniem uzupełnij imię i nazwisko oraz promotora.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1,5 min. Zacznij od liczby: w 2024 r. budownictwo to tylko 5% wszystkich poszkodowanych w wypadkach przy pracy, ale aż 24% ofiar śmiertelnych, czyli 59 z 250 osób (GUS, publikacja z listopada 2025). Robotnicy budowlani są najczęstszą grupą zawodową wśród ofiar śmiertelnych. Kask i kamizelka to podstawowe środki ochrony, ale ich noszenie kontroluje dziś człowiek, który nie widzi całego placu cały czas. Stąd pomysł: niech obraz z kamer analizuje komputer i sam zgłasza naruszenia.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1,5 min. Przeczytaj cel jednym zdaniem. Potem pokaż trzy elementy: cztery kamery IP, które przesyłają obraz protokołem RTSP; komputer z aplikacją, która kolejkuje strumienie, wykrywa osoby i klasyfikuje naruszenia; interfejs, na którym widać obraz i powiadomienia. Na koniec dwa aspekty pracy z karty tematu: inżynierski (system do praktycznego użycia) i systemowy (widzenie komputerowe, uczenie maszynowe, modelowanie, projektowanie interfejsu).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 min. Zakres jest wprost z karty tematu w APD, w czterech częściach: urządzenia i komunikacja (kamery, sieć, RTSP); aplikacja z trzema modułami (akwizycja strumieni, analiza obrazu, GUI); uczenie maszynowe na rzeczywistych nagraniach; weryfikacja i walidacja na prawdziwym placu robót. Nie rozwijaj szczegółów, wrócisz do nich na slajdzie z koncepcją systemu i z zadaniami.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2,5 min. To najważniejszy slajd o literaturze. Fang i in. (2018) to klasyk: Faster R-CNN wykrywa brak kasku na nagraniach z monitoringu 25 budów, precision 95,7% i recall 94,9%, ale tylko kask i około 0,2 s na klatkę. Nath i in. (2020) to praca najbliższa tematowi: kask i kamizelka, YOLOv3, porównują trzy sposoby klasyfikacji pracownika; najlepszy ma 72,3% mAP przy 11 klatkach na sekundę na laptopie, ale uczą na zdjęciach z internetu. Wang i in. (2021) porównali osiem wersji YOLO na otwartym zbiorze CHV: 86,55% mAP, a najmniejszy model 52 klatki na sekundę. Gallo i in. (2022) liczą wszystko na Raspberry Pi przy kamerze, więc muszą wybrać szybszy, mniej dokładny model. Al-Azani i in. (2024) są najbliżej mojej architektury: kilka kamer, GPU, 30 klatek na sekundę, dashboard. Ich model ma 92,4% mAP na kamerze znanej z uczenia, ale tylko 66,7% na innej kamerze w innym miejscu. Jeśli padnie pytanie o porównanie liczb: każda praca ma inny zbiór danych, więc wyniki pokazują rząd wielkości, a nie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 min. Jedno zdanie, które ma zostać w głowie: robię cały system na placu budowy, od kamer do powiadomienia, i uczę go oraz sprawdzam na nagraniach z tego placu. Potem trzy różnice. Prace o modelach (Nath, Wang) kończą się na ocenie na zdjęciach, a ja buduję działający system z czterema kamerami i interfejsem. Gallo stawia słaby komputer przy każdej kamerze, a u mnie jeden komputer obsługuje kolejkę czterech strumieni. Al-Azani pokazali, że model przeniesiony w inne miejsce traci około 25 punktów mAP, dlatego uczę i sprawdzam na danych z docelowego placu.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2 min. Opowiedz drogę jednej klatki obrazu od lewej do prawej. Cztery kamery IP wysyłają obraz protokołem RTSP. Moduł akwizycji ma osobny wątek dla każdej kamery i wrzuca klatki do kolejki, żeby żadna kamera nie blokowała innych. Detekcja to model YOLO na karcie graficznej, który znajduje osoby, kaski i kamizelki. Klasyfikacja przypisuje kask i kamizelkę do konkretnej osoby i zgłasza naruszenie dopiero wtedy, gdy powtarza się w kilku kolejnych klatkach, żeby pojedynczy błąd modelu nie wywoływał alarmu. GUI pokazuje podgląd czterech kamer, alerty i rejestr naruszeń. Na dole pętla uczenia: nagrania z placu oznaczam, trenuję i sprawdzam model, a nową wersję wdrażam do modułu detekcji. To jest ten pełny proces inżynierii danych z tematu. Uzupełnij lub popraw szczegóły, jeśli planujesz inaczej.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 min. Cztery filary, każdy z konkretnym źródłem. Detekcja: YOLO, czyli jedna sieć i jeden przebieg na klatkę, co daje czas rzeczywisty (Redmon 2016); wersję wybiorę na podstawie przeglądu Tervena (2023). Akwizycja: kamery IP udostępniają obraz protokołem RTSP opisanym w RFC 2326, a Ananthanarayanan i in. (2017) pokazują, że analityka wideo na żywo wymaga architektury rozproszonej. BHP: przegląd Fanga i in. (2020) o zastosowaniach i barierach. Inżynieria: Sculley i in. (2015) pokazują, że model to mały kawałek systemu z ML, a Kreuzberger i in. (2023) opisują MLOps, czyli porządek w danych, modelach i wdrożeniach.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1,5 min. Na start mam gotowe, otwarte zbiory zdjęć z budów: CHV od Wanga i in. (1330 zdjęć) i Pictor-v3 od Natha i in. (około 1500 zdjęć). Docelowo uczę i sprawdzam model na nagraniach z rzeczywistego placu robót, oznaczonych w tych samych klasach. Nagrywanie pracowników podlega RODO i przepisom o monitoringu w miejscu pracy (art. 22² Kodeksu pracy), więc pracownicy muszą być poinformowani, a nagrania zabezpieczone. Ocena: mAP, precision i recall dla naruszeń, liczba klatek na sekundę przy czterech strumieniach naraz oraz test na nagraniach, których model nie widział przy uczeniu. Argument za własnymi danymi daje Al-Azani: 92,4% mAP na znanej kamerze i 66,7% na innej. Dopasuj ten slajd do tego, skąd naprawdę będą nagrania.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2 min. Zadania projektowe idą w kolejności budowy systemu: najpierw kamery, sieć i odbiór RTSP, potem moduł akwizycji z kolejką dla czterech strumieni, moduł analizy obrazu, GUI, a na końcu integracja i testy na placu. Zadania badawcze: zebrać i oznaczyć nagrania z placu; porównać warianty YOLO pod kątem trafności i liczby klatek na sekundę przy czterech strumieniach naraz; sprawdzić dwa sposoby klasyfikacji naruszeń, które porównywali Nath i in. (przypisanie kasku i kamizelki do osoby albo od razu klasa pracownika), z filtrem czasowym jak u Lemy i in. (2023); zwalidować system w różnych warunkach. Wyniki i kod będą na Prezentacji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30 s. Nie czytaj listy. Powiedz tylko, że to wybór 13 źródeł: klasyki detekcji (YOLO), prace o wykrywaniu kasków i kamizelek z ostatnich lat, źródła o strumieniach wideo i MLOps oraz statystyki GUS. Pełne opisy bibliograficzne są w pliku bibliografia.bib w repozytorium.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Podsumuj jednym zdaniem całość i zaproś do pytań. Najczęstsze pytania i odpowiedzi są w pliku plan-wystapienia.md w repozytorium: skąd dane, prywatność pracowników, jak klasyfikujesz naruszenie, czy jedna klatka to naruszenie, dlaczego jeden komputer, czym różnisz się od Al-Azani.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5310"/>
            <a:ext cx="10566400" cy="4199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5310"/>
            <a:ext cx="10566400" cy="4199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gradFill rotWithShape="1">
            <a:gsLst>
              <a:gs pos="0">
                <a:srgbClr val="F2B705"/>
              </a:gs>
              <a:gs pos="50000">
                <a:srgbClr val="F2B705"/>
              </a:gs>
              <a:gs pos="50000">
                <a:srgbClr val="17212B"/>
              </a:gs>
              <a:gs pos="100000">
                <a:srgbClr val="17212B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441768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PREZENTACJA I · SEMINARIUM DYPLOMOWE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944688"/>
            <a:ext cx="9810750" cy="183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44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automatycznego wykrywania naruszeń BHP w czasie rzeczywistym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12800" y="4009072"/>
            <a:ext cx="9810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Detekcja osób bez kasku ochronnego lub kamizelki odblaskowej na placu robót, na podstawie obrazu z 4 kamer IP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832033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[Imię Nazwisko]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5167313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Promotor: [promotor] · Seminarium: prof. Jerzy Świątek · Politechnika Wrocławska · 12.10.2026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TEMAT PRACY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Motywacja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1660"/>
            <a:ext cx="3517900" cy="3983990"/>
          </a:xfrm>
          <a:prstGeom prst="roundRect">
            <a:avLst>
              <a:gd name="adj" fmla="val 3430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300" y="2162810"/>
            <a:ext cx="298246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130300" y="3280410"/>
            <a:ext cx="2982468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ofiar śmiertelnych wypadków przy pracy w 2024 r. przypada na </a:t>
            </a:r>
            <a:r>
              <a:rPr lang="en-US" sz="1500" b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budownictwo</a:t>
            </a:r>
            <a:r>
              <a:rPr lang="en-US" sz="15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(59 z 250)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03750" y="1851660"/>
            <a:ext cx="3517900" cy="3983990"/>
          </a:xfrm>
          <a:prstGeom prst="roundRect">
            <a:avLst>
              <a:gd name="adj" fmla="val 3430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4900" y="2162810"/>
            <a:ext cx="298246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5%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914900" y="3280410"/>
            <a:ext cx="2982468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wszystkich poszkodowanych w wypadkach przy pracy to budownictwo (3442 z 67 000)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32800" y="2584768"/>
            <a:ext cx="2982468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Robotnicy budowlani to najczęstsza grupa zawodowa wśród ofiar śmiertelnych </a:t>
            </a:r>
            <a:r>
              <a:rPr lang="en-US" sz="1500" b="1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(19,6%)</a:t>
            </a:r>
            <a:r>
              <a:rPr lang="en-US" sz="1500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32800" y="3816668"/>
            <a:ext cx="2982468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Kask i kamizelka to podstawowa ochrona, a ich noszenie sprawdza się dziś ręcznie: nikt nie obserwuje całego placu przez całą zmianę.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Źródło: GUS (2025), Wypadki przy pracy w 2024 r. (tabl. 2; poszkodowani według zawodów)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TEMAT PRACY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Cel pracy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45311"/>
            <a:ext cx="1046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Rozproszony system zbierania i analizy obrazu, który w czasie rzeczywistym wykrywa na placu robót osoby </a:t>
            </a:r>
            <a:r>
              <a:rPr lang="en-US" sz="200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bez kasku ochronnego</a:t>
            </a:r>
            <a:r>
              <a:rPr lang="en-US" sz="2000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lub </a:t>
            </a:r>
            <a:r>
              <a:rPr lang="en-US" sz="200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bez kamizelki odblaskowej</a:t>
            </a:r>
            <a:r>
              <a:rPr lang="en-US" sz="2000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9150" y="2816861"/>
            <a:ext cx="3373967" cy="1851660"/>
          </a:xfrm>
          <a:prstGeom prst="roundRect">
            <a:avLst>
              <a:gd name="adj" fmla="val 651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pic>
        <p:nvPicPr>
          <p:cNvPr id="6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9500" y="3077211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9500" y="3534411"/>
            <a:ext cx="29388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kamery IP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79500" y="3910330"/>
            <a:ext cx="293886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obraz z placu robót przesyłany strumieniami RTSP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09017" y="2816861"/>
            <a:ext cx="3373967" cy="1851660"/>
          </a:xfrm>
          <a:prstGeom prst="roundRect">
            <a:avLst>
              <a:gd name="adj" fmla="val 651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pic>
        <p:nvPicPr>
          <p:cNvPr id="10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9367" y="3077211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9367" y="3534411"/>
            <a:ext cx="29388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Komputer z aplikacją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69367" y="3910330"/>
            <a:ext cx="293886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kolejkowanie strumieni, detekcja osób, klasyfikacja naruszeń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998883" y="2816861"/>
            <a:ext cx="3373967" cy="1851660"/>
          </a:xfrm>
          <a:prstGeom prst="roundRect">
            <a:avLst>
              <a:gd name="adj" fmla="val 651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pic>
        <p:nvPicPr>
          <p:cNvPr id="14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9233" y="3077211"/>
            <a:ext cx="355600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9233" y="3534411"/>
            <a:ext cx="29388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Interfejs (GUI)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259233" y="3910330"/>
            <a:ext cx="293886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podgląd kamer i powiadomienia o wykrytych naruszeniach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2800" y="497967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B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Aspekt inżynierski:</a:t>
            </a:r>
            <a:r>
              <a:rPr lang="en-US" sz="1300" dirty="0">
                <a:solidFill>
                  <a:srgbClr val="5B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system o zastosowaniu praktycznym. </a:t>
            </a:r>
            <a:r>
              <a:rPr lang="en-US" sz="1300" b="1" dirty="0">
                <a:solidFill>
                  <a:srgbClr val="5B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Aspekt systemowy:</a:t>
            </a:r>
            <a:r>
              <a:rPr lang="en-US" sz="1300" dirty="0">
                <a:solidFill>
                  <a:srgbClr val="5B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widzenie komputerowe, modelowanie matematyczne, uczenie maszynowe i projektowanie interfejsów, czyli pełny proces inżynierii danych.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TEMAT PRACY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Zakres pracy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1661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12011"/>
            <a:ext cx="2115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8061" y="2112011"/>
            <a:ext cx="44389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Urządzenia i komunikacja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8061" y="2462530"/>
            <a:ext cx="44389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konfiguracja 4 kamer IP, sieci i komputera; odbiór strumieni RTSP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3950" y="1851661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300" y="2112011"/>
            <a:ext cx="26204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3343" y="2112011"/>
            <a:ext cx="43869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Aplikacja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3343" y="2462530"/>
            <a:ext cx="438693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moduły: akwizycja strumieni wideo, analiza obrazu (detekcja osób, klasyfikacja naruszeń), GUI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150" y="4053205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500" y="4313555"/>
            <a:ext cx="26701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73518" y="4313555"/>
            <a:ext cx="4381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Uczenie maszynowe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73518" y="4664075"/>
            <a:ext cx="438180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przygotowanie danych i uczenie modelu na rzeczywistych nagraniach wideo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03950" y="4053205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300" y="4313555"/>
            <a:ext cx="2769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68266" y="4313555"/>
            <a:ext cx="437156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Weryfikacja i walidacja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68266" y="4664075"/>
            <a:ext cx="437156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sprawdzenie działania systemu w środowisku rzeczywistym, na placu robót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TŁO: LITERATURA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Istniejące rozwiązania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07211"/>
          <a:ext cx="10553700" cy="3312160"/>
        </p:xfrm>
        <a:graphic>
          <a:graphicData uri="http://schemas.openxmlformats.org/drawingml/2006/table">
            <a:tbl>
              <a:tblPr/>
              <a:tblGrid>
                <a:gridCol w="1794129"/>
                <a:gridCol w="3482721"/>
                <a:gridCol w="2743962"/>
                <a:gridCol w="2532888"/>
              </a:tblGrid>
              <a:tr h="35941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Praca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Podejście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Wynik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Ograniczenie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Fang i in. (2018)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Faster R-CNN na nagraniach z kamer monitoringu 25 budów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precision 95,7%, recall 94,9%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tylko kask; ok. 0,2 s na klatkę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Nath i in. (2020)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YOLOv3, kask + kamizelka, od razu klasa pracownika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72,3% mAP, 11 klatek/s na laptopie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uczony na zdjęciach z internetu i crowdsourcingu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Wang i in. (2021)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 wariantów YOLOv3–v5, otwarty zbiór CHV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86,55% mAP (v5x); 52 klatki/s (v5s, GPU)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ocena modelu na 1330 zdjęciach, bez systemu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Gallo i in. (2022)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system brzegowy: Raspberry Pi + Intel NCS2 przy kamerze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YOLOv4-Tiny najszybszy, o 10,4 pkt mAP słabszy od YOLOv4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słaby sprzęt przy każdej kamerze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Al-Azani i in. (2024)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kilka kamer CCTV, YOLOv7 na GPU, 30 klatek/s, dashboard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92,4% mAP, ale 66,7% na innej kamerze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spadek trafności w nowym środowisku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Wyniki według autorów, na różnych zbiorach danych, więc liczby nie są wprost porównywalne.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9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b="1" spc="15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TŁO: LITERATURA</a:t>
            </a:r>
            <a:endParaRPr lang="en-US" sz="72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57793"/>
            <a:ext cx="10883392" cy="166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Luka, którą wypełnia praca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1403775"/>
            <a:ext cx="11379200" cy="285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Kompletny system na placu budowy, od kamer do powiadomienia, uczony i sprawdzany na nagraniach z tego placu.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12800" y="2288223"/>
            <a:ext cx="52062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 LITERATURZE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67400" y="1968184"/>
            <a:ext cx="50800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 TEJ PRACY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24600" y="2137727"/>
            <a:ext cx="520623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2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i zbiór danych oceniany na zdjęciach (Nath 2020, Wang 2021)</a:t>
            </a:r>
            <a:endParaRPr lang="en-US" sz="15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3257234"/>
            <a:ext cx="406400" cy="20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67400" y="1944477"/>
            <a:ext cx="508000" cy="285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działający system: 4 kamery RTSP, aplikacja i GUI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24600" y="3101659"/>
            <a:ext cx="520623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2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osobne urządzenie brzegowe przy każdej kamerze (Gallo 2022)</a:t>
            </a:r>
            <a:endParaRPr lang="en-US" sz="15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4331757"/>
            <a:ext cx="406400" cy="203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67400" y="2761825"/>
            <a:ext cx="508000" cy="336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jeden komputer obsługuje kolejkę 4 strumieni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24600" y="4176182"/>
            <a:ext cx="520623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2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z innego miejsca traci ok. 25 pkt mAP (Al-Azani 2024)</a:t>
            </a:r>
            <a:endParaRPr lang="en-US" sz="1500" dirty="0"/>
          </a:p>
        </p:txBody>
      </p:sp>
      <p:pic>
        <p:nvPicPr>
          <p:cNvPr id="14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5406284"/>
            <a:ext cx="406400" cy="203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67400" y="3836352"/>
            <a:ext cx="508000" cy="336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uczenie i walidacja na nagraniach z docelowego placu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193" b="1" spc="15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KONCEPCJA</a:t>
            </a:r>
            <a:endParaRPr lang="en-US" sz="1193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6963"/>
            <a:ext cx="1088339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934" b="1" i="0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Koncepcja systemu</a:t>
            </a:r>
            <a:endParaRPr lang="en-US" sz="2934" dirty="0"/>
          </a:p>
        </p:txBody>
      </p:sp>
      <p:sp>
        <p:nvSpPr>
          <p:cNvPr id="4" name="Text 2"/>
          <p:cNvSpPr/>
          <p:nvPr/>
        </p:nvSpPr>
        <p:spPr>
          <a:xfrm>
            <a:off x="812800" y="1676400"/>
            <a:ext cx="1524000" cy="508529"/>
          </a:xfrm>
          <a:custGeom>
            <a:avLst/>
            <a:gdLst/>
            <a:ahLst/>
            <a:cxnLst/>
            <a:rect l="l" t="t" r="r" b="b"/>
            <a:pathLst>
              <a:path w="1524000" h="508529">
                <a:moveTo>
                  <a:pt x="88900" y="0"/>
                </a:moveTo>
                <a:lnTo>
                  <a:pt x="1435100" y="0"/>
                </a:lnTo>
                <a:arcTo hR="88900" wR="88900" stAng="16200000" swAng="5400000"/>
                <a:lnTo>
                  <a:pt x="1524000" y="419629"/>
                </a:lnTo>
                <a:arcTo hR="88900" wR="88900" stAng="0" swAng="5400000"/>
                <a:lnTo>
                  <a:pt x="88900" y="508529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17212B"/>
          </a:solidFill>
          <a:ln/>
        </p:spPr>
        <p:txBody>
          <a:bodyPr wrap="square" lIns="101600" tIns="0" rIns="101600" bIns="0" rtlCol="0" anchor="t">
            <a:normAutofit/>
          </a:bodyPr>
          <a:lstStyle/>
          <a:p>
            <a:pPr algn="ctr" indent="0" marL="0">
              <a:lnSpc>
                <a:spcPts val="4004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Kamera IP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463800"/>
            <a:ext cx="1524000" cy="508529"/>
          </a:xfrm>
          <a:custGeom>
            <a:avLst/>
            <a:gdLst/>
            <a:ahLst/>
            <a:cxnLst/>
            <a:rect l="l" t="t" r="r" b="b"/>
            <a:pathLst>
              <a:path w="1524000" h="508529">
                <a:moveTo>
                  <a:pt x="88900" y="0"/>
                </a:moveTo>
                <a:lnTo>
                  <a:pt x="1435100" y="0"/>
                </a:lnTo>
                <a:arcTo hR="88900" wR="88900" stAng="16200000" swAng="5400000"/>
                <a:lnTo>
                  <a:pt x="1524000" y="419629"/>
                </a:lnTo>
                <a:arcTo hR="88900" wR="88900" stAng="0" swAng="5400000"/>
                <a:lnTo>
                  <a:pt x="88900" y="508529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17212B"/>
          </a:solidFill>
          <a:ln/>
        </p:spPr>
        <p:txBody>
          <a:bodyPr wrap="square" lIns="101600" tIns="0" rIns="101600" bIns="0" rtlCol="0" anchor="t">
            <a:normAutofit/>
          </a:bodyPr>
          <a:lstStyle/>
          <a:p>
            <a:pPr algn="ctr" indent="0" marL="0">
              <a:lnSpc>
                <a:spcPts val="4004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Kamera IP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251200"/>
            <a:ext cx="1524000" cy="508529"/>
          </a:xfrm>
          <a:custGeom>
            <a:avLst/>
            <a:gdLst/>
            <a:ahLst/>
            <a:cxnLst/>
            <a:rect l="l" t="t" r="r" b="b"/>
            <a:pathLst>
              <a:path w="1524000" h="508529">
                <a:moveTo>
                  <a:pt x="88900" y="0"/>
                </a:moveTo>
                <a:lnTo>
                  <a:pt x="1435100" y="0"/>
                </a:lnTo>
                <a:arcTo hR="88900" wR="88900" stAng="16200000" swAng="5400000"/>
                <a:lnTo>
                  <a:pt x="1524000" y="419629"/>
                </a:lnTo>
                <a:arcTo hR="88900" wR="88900" stAng="0" swAng="5400000"/>
                <a:lnTo>
                  <a:pt x="88900" y="508529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17212B"/>
          </a:solidFill>
          <a:ln/>
        </p:spPr>
        <p:txBody>
          <a:bodyPr wrap="square" lIns="101600" tIns="0" rIns="101600" bIns="0" rtlCol="0" anchor="t">
            <a:normAutofit/>
          </a:bodyPr>
          <a:lstStyle/>
          <a:p>
            <a:pPr algn="ctr" indent="0" marL="0">
              <a:lnSpc>
                <a:spcPts val="4004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Kamera IP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4038600"/>
            <a:ext cx="1524000" cy="508529"/>
          </a:xfrm>
          <a:custGeom>
            <a:avLst/>
            <a:gdLst/>
            <a:ahLst/>
            <a:cxnLst/>
            <a:rect l="l" t="t" r="r" b="b"/>
            <a:pathLst>
              <a:path w="1524000" h="508529">
                <a:moveTo>
                  <a:pt x="88900" y="0"/>
                </a:moveTo>
                <a:lnTo>
                  <a:pt x="1435100" y="0"/>
                </a:lnTo>
                <a:arcTo hR="88900" wR="88900" stAng="16200000" swAng="5400000"/>
                <a:lnTo>
                  <a:pt x="1524000" y="419629"/>
                </a:lnTo>
                <a:arcTo hR="88900" wR="88900" stAng="0" swAng="5400000"/>
                <a:lnTo>
                  <a:pt x="88900" y="508529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17212B"/>
          </a:solidFill>
          <a:ln/>
        </p:spPr>
        <p:txBody>
          <a:bodyPr wrap="square" lIns="101600" tIns="0" rIns="101600" bIns="0" rtlCol="0" anchor="t">
            <a:normAutofit/>
          </a:bodyPr>
          <a:lstStyle/>
          <a:p>
            <a:pPr algn="ctr" indent="0" marL="0">
              <a:lnSpc>
                <a:spcPts val="4004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Kamera IP 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6750" y="2228850"/>
            <a:ext cx="1784350" cy="1765300"/>
          </a:xfrm>
          <a:prstGeom prst="roundRect">
            <a:avLst>
              <a:gd name="adj" fmla="val 5396"/>
            </a:avLst>
          </a:prstGeom>
          <a:solidFill>
            <a:srgbClr val="FFFDF8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5500" y="2387600"/>
            <a:ext cx="1517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Akwizycja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65500" y="2677161"/>
            <a:ext cx="15176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wątek na każdą kamerę, kolejka klatek, dekodowanie strumieni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34000" y="2228850"/>
            <a:ext cx="1784350" cy="1765300"/>
          </a:xfrm>
          <a:prstGeom prst="roundRect">
            <a:avLst>
              <a:gd name="adj" fmla="val 5396"/>
            </a:avLst>
          </a:prstGeom>
          <a:solidFill>
            <a:srgbClr val="FFFDF8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92750" y="2387600"/>
            <a:ext cx="1517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Detekcja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92750" y="2677161"/>
            <a:ext cx="1517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YOLO na GPU: osoby, kaski, kamizelki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61250" y="2228850"/>
            <a:ext cx="1784350" cy="1765300"/>
          </a:xfrm>
          <a:prstGeom prst="roundRect">
            <a:avLst>
              <a:gd name="adj" fmla="val 5396"/>
            </a:avLst>
          </a:prstGeom>
          <a:solidFill>
            <a:srgbClr val="FFFDF8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0" y="2387600"/>
            <a:ext cx="1517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Klasyfikacja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0" y="2677161"/>
            <a:ext cx="15176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przypisanie kasku i kamizelki do osoby, potwierdzenie w kilku klatkach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88500" y="2228850"/>
            <a:ext cx="1784350" cy="1765300"/>
          </a:xfrm>
          <a:prstGeom prst="roundRect">
            <a:avLst>
              <a:gd name="adj" fmla="val 5396"/>
            </a:avLst>
          </a:prstGeom>
          <a:solidFill>
            <a:srgbClr val="FFFDF8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7250" y="2387600"/>
            <a:ext cx="1517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GUI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47250" y="2677161"/>
            <a:ext cx="1517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podgląd 4 kamer, alerty, rejestr naruszeń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6750" y="4984750"/>
            <a:ext cx="8166100" cy="850900"/>
          </a:xfrm>
          <a:prstGeom prst="roundRect">
            <a:avLst>
              <a:gd name="adj" fmla="val 11194"/>
            </a:avLst>
          </a:prstGeom>
          <a:solidFill>
            <a:srgbClr val="FBEFE6"/>
          </a:solidFill>
          <a:ln w="12700">
            <a:solidFill>
              <a:srgbClr val="C2410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416300" y="5143500"/>
            <a:ext cx="7979410" cy="186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979" b="1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Uczenie modelu (poza czasem rzeczywistym)</a:t>
            </a:r>
            <a:endParaRPr lang="en-US" sz="979" dirty="0"/>
          </a:p>
        </p:txBody>
      </p:sp>
      <p:sp>
        <p:nvSpPr>
          <p:cNvPr id="22" name="Text 20"/>
          <p:cNvSpPr/>
          <p:nvPr/>
        </p:nvSpPr>
        <p:spPr>
          <a:xfrm>
            <a:off x="3416300" y="5355800"/>
            <a:ext cx="7979410" cy="34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193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nagrania z placu → oznaczanie osób, kasków i kamizelek → trening i walidacja → nowa wersja modelu w module 2</a:t>
            </a:r>
            <a:endParaRPr lang="en-US" sz="1193" dirty="0"/>
          </a:p>
        </p:txBody>
      </p:sp>
      <p:pic>
        <p:nvPicPr>
          <p:cNvPr id="23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1879600"/>
            <a:ext cx="533400" cy="101600"/>
          </a:xfrm>
          <a:prstGeom prst="rect">
            <a:avLst/>
          </a:prstGeom>
        </p:spPr>
      </p:pic>
      <p:pic>
        <p:nvPicPr>
          <p:cNvPr id="2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86000" y="2667000"/>
            <a:ext cx="533400" cy="101600"/>
          </a:xfrm>
          <a:prstGeom prst="rect">
            <a:avLst/>
          </a:prstGeom>
        </p:spPr>
      </p:pic>
      <p:pic>
        <p:nvPicPr>
          <p:cNvPr id="2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86000" y="3454400"/>
            <a:ext cx="533400" cy="101600"/>
          </a:xfrm>
          <a:prstGeom prst="rect">
            <a:avLst/>
          </a:prstGeom>
        </p:spPr>
      </p:pic>
      <p:pic>
        <p:nvPicPr>
          <p:cNvPr id="2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286000" y="4241800"/>
            <a:ext cx="533400" cy="101600"/>
          </a:xfrm>
          <a:prstGeom prst="rect">
            <a:avLst/>
          </a:prstGeom>
        </p:spPr>
      </p:pic>
      <p:pic>
        <p:nvPicPr>
          <p:cNvPr id="27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17800" y="1879600"/>
            <a:ext cx="101600" cy="2463800"/>
          </a:xfrm>
          <a:prstGeom prst="rect">
            <a:avLst/>
          </a:prstGeom>
        </p:spPr>
      </p:pic>
      <p:pic>
        <p:nvPicPr>
          <p:cNvPr id="28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717800" y="3060700"/>
            <a:ext cx="533400" cy="101600"/>
          </a:xfrm>
          <a:prstGeom prst="rect">
            <a:avLst/>
          </a:prstGeom>
        </p:spPr>
      </p:pic>
      <p:pic>
        <p:nvPicPr>
          <p:cNvPr id="29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946650" y="3060700"/>
            <a:ext cx="431800" cy="101600"/>
          </a:xfrm>
          <a:prstGeom prst="rect">
            <a:avLst/>
          </a:prstGeom>
        </p:spPr>
      </p:pic>
      <p:pic>
        <p:nvPicPr>
          <p:cNvPr id="30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073900" y="3060700"/>
            <a:ext cx="431800" cy="101600"/>
          </a:xfrm>
          <a:prstGeom prst="rect">
            <a:avLst/>
          </a:prstGeom>
        </p:spPr>
      </p:pic>
      <p:pic>
        <p:nvPicPr>
          <p:cNvPr id="31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201150" y="3060700"/>
            <a:ext cx="431800" cy="101600"/>
          </a:xfrm>
          <a:prstGeom prst="rect">
            <a:avLst/>
          </a:prstGeom>
        </p:spPr>
      </p:pic>
      <p:pic>
        <p:nvPicPr>
          <p:cNvPr id="32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172200" y="3949700"/>
            <a:ext cx="101600" cy="10795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413000" y="4470400"/>
            <a:ext cx="749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RTSP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6324600" y="4343400"/>
            <a:ext cx="1066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Koncepcja wstępna: wybór wersji YOLO i sprzętu to część zadań badawczych.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KONCEPCJA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Podstawy metod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1661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12011"/>
            <a:ext cx="47876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Detekcja obiektów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2444750"/>
            <a:ext cx="478764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YOLO: jedna sieć przewiduje ramki i klasy w jednym przebiegu, dlatego działa w czasie rzeczywistym.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9500" y="2995929"/>
            <a:ext cx="47876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Redmon i in. 2016; przegląd wersji v1–v8: Terven i in. 2023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3950" y="1851661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300" y="2112011"/>
            <a:ext cx="47876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Akwizycja strumieni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300" y="2444750"/>
            <a:ext cx="478764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RTSP to standardowy protokół sterowania strumieniem z kamer IP. Analityka wideo na żywo wymaga architektury rozproszonej.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300" y="3227071"/>
            <a:ext cx="47876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RFC 2326 (Schulzrinne i in. 1998); Ananthanarayanan i in. 2017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150" y="4053204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500" y="4313554"/>
            <a:ext cx="47876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Computer vision w BHP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4646296"/>
            <a:ext cx="478764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Przegląd zastosowań na budowach i barier wdrożenia: dokładność, niezawodność, dostęp do nagrań z monitoringu.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9500" y="5197475"/>
            <a:ext cx="47876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Fang W. i in. 2020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03950" y="4053204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300" y="4313554"/>
            <a:ext cx="47876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Inżynieria systemu z ML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4300" y="4646296"/>
            <a:ext cx="478764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to mały fragment systemu; resztę stanowią dane, konfiguracja i monitoring. MLOps porządkuje wersje danych i modeli oraz wdrożenia.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4300" y="5428617"/>
            <a:ext cx="47876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Sculley i in. 2015; Kreuzberger i in. 2023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PRAC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Dane i sposób oceny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1658"/>
            <a:ext cx="3373967" cy="1778000"/>
          </a:xfrm>
          <a:prstGeom prst="roundRect">
            <a:avLst>
              <a:gd name="adj" fmla="val 678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12008"/>
            <a:ext cx="29388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 start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2444750"/>
            <a:ext cx="293886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otwarte zbiory: CHV (1330 zdjęć z budów: osoba, kask, kamizelka) i Pictor-v3 (ok. 1500 zdjęć)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9017" y="1851658"/>
            <a:ext cx="3373967" cy="1778000"/>
          </a:xfrm>
          <a:prstGeom prst="roundRect">
            <a:avLst>
              <a:gd name="adj" fmla="val 678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9367" y="2112008"/>
            <a:ext cx="29388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Docelowo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9367" y="2444750"/>
            <a:ext cx="2938865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nagrania z rzeczywistego placu robót, oznaczone: osoba, kask, kamizelka; zgodnie z RODO i przepisami o monitoringu w pracy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8883" y="1851658"/>
            <a:ext cx="3373967" cy="1778000"/>
          </a:xfrm>
          <a:prstGeom prst="roundRect">
            <a:avLst>
              <a:gd name="adj" fmla="val 678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9233" y="2112008"/>
            <a:ext cx="29388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Ocena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59233" y="2444750"/>
            <a:ext cx="2938865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 oraz precision i recall wykrywania naruszeń; klatki/s przy 4 strumieniach; test na nagraniach spoza zbioru uczącego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940808"/>
            <a:ext cx="10566400" cy="904240"/>
          </a:xfrm>
          <a:prstGeom prst="roundRect">
            <a:avLst>
              <a:gd name="adj" fmla="val 8427"/>
            </a:avLst>
          </a:prstGeom>
          <a:solidFill>
            <a:srgbClr val="FBEFE6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800" y="3940808"/>
            <a:ext cx="10566400" cy="904240"/>
          </a:xfrm>
          <a:custGeom>
            <a:avLst/>
            <a:gdLst/>
            <a:ahLst/>
            <a:cxnLst/>
            <a:rect l="l" t="t" r="r" b="b"/>
            <a:pathLst>
              <a:path w="10566400" h="904240">
                <a:moveTo>
                  <a:pt x="76200" y="904240"/>
                </a:moveTo>
                <a:lnTo>
                  <a:pt x="76200" y="90424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828040"/>
                </a:lnTo>
                <a:arcTo hR="76200" wR="25400" stAng="10800000" swAng="-5400000"/>
                <a:close/>
              </a:path>
            </a:pathLst>
          </a:custGeom>
          <a:solidFill>
            <a:srgbClr val="C2410C"/>
          </a:solidFill>
          <a:ln/>
        </p:spPr>
      </p:sp>
      <p:pic>
        <p:nvPicPr>
          <p:cNvPr id="15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4240529"/>
            <a:ext cx="304800" cy="30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4144008"/>
            <a:ext cx="98107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Dlaczego własne dane:</a:t>
            </a:r>
            <a:r>
              <a:rPr lang="en-US" sz="1400" dirty="0">
                <a:solidFill>
                  <a:srgbClr val="1721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 Al-Azani i in. (2024) mAP spada z 92,4% do 66,7% na kamerze w innym środowisku niż dane uczące.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PRAC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Zadania do wykonania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1658"/>
            <a:ext cx="5168900" cy="4187190"/>
          </a:xfrm>
          <a:prstGeom prst="roundRect">
            <a:avLst>
              <a:gd name="adj" fmla="val 2881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12008"/>
            <a:ext cx="47876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Projektowe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529" y="2498092"/>
            <a:ext cx="4715997" cy="1645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71" indent="-189971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Konfiguracja kamer IP, sieci i komputera; odbiór strumieni RTSP</a:t>
            </a:r>
            <a:endParaRPr lang="en-US" sz="1350" dirty="0"/>
          </a:p>
          <a:p>
            <a:pPr algn="l" marL="189971" indent="-189971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Moduł akwizycji: wątki i kolejka dla 4 strumieni</a:t>
            </a:r>
            <a:endParaRPr lang="en-US" sz="1350" dirty="0"/>
          </a:p>
          <a:p>
            <a:pPr algn="l" marL="189971" indent="-189971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Moduł analizy obrazu: detekcja osób i PPE, klasyfikacja naruszeń</a:t>
            </a:r>
            <a:endParaRPr lang="en-US" sz="1350" dirty="0"/>
          </a:p>
          <a:p>
            <a:pPr algn="l" marL="189971" indent="-189971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GUI: podgląd kamer, alerty, rejestr naruszeń</a:t>
            </a:r>
            <a:endParaRPr lang="en-US" sz="1350" dirty="0"/>
          </a:p>
          <a:p>
            <a:pPr algn="l" marL="189971" indent="-189971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Integracja i testy systemu na placu robót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03950" y="1851658"/>
            <a:ext cx="5168900" cy="4187190"/>
          </a:xfrm>
          <a:prstGeom prst="roundRect">
            <a:avLst>
              <a:gd name="adj" fmla="val 2881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300" y="2112008"/>
            <a:ext cx="47876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Badawcze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28329" y="2498092"/>
            <a:ext cx="4715997" cy="1645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71" indent="-189971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Zbiór danych z placu: nagrania i oznaczenia</a:t>
            </a:r>
            <a:endParaRPr lang="en-US" sz="1350" dirty="0"/>
          </a:p>
          <a:p>
            <a:pPr algn="l" marL="189971" indent="-189971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Porównanie wariantów YOLO: trafność a liczba klatek/s przy 4 strumieniach</a:t>
            </a:r>
            <a:endParaRPr lang="en-US" sz="1350" dirty="0"/>
          </a:p>
          <a:p>
            <a:pPr algn="l" marL="189971" indent="-189971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Klasyfikacja naruszeń: przypisanie PPE do osoby a klasa pracownika; filtr czasowy</a:t>
            </a:r>
            <a:endParaRPr lang="en-US" sz="1350" dirty="0"/>
          </a:p>
          <a:p>
            <a:pPr algn="l" marL="189971" indent="-189971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Walidacja w warunkach rzeczywistych: inna kamera, pora dnia, pogoda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PRAC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Bibliografia (wybór)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94508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[1] Al-Azani S. i in. (2024). Real-Time Monitoring of PPE Compliance in Surveillance Cameras.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IEEE Access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279650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[2] Ananthanarayanan G. i in. (2017). Real-Time Video Analytics: The Killer App for Edge Computing.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Computer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50(10).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764792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[3] Fang Q. i in. (2018). Detecting non-hardhat-use by a deep learning method from far-field surveillance videos.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Autom. Constr.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85.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249929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[4] Fang W. i in. (2020). Computer vision applications in construction safety assurance.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Autom. Constr.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110.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735071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[5] Gallo G. i in. (2022). A Smart System for PPE Detection in Industrial Environments Based on Deep Learning at the Edge.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IEEE Access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10.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4220208"/>
            <a:ext cx="5284724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[6] GUS (2025).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Wypadki przy pracy w 2024 r.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Warszawa.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4507229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[7] Kreuzberger D. i in. (2023). Machine Learning Operations (MLOps): Overview, Definition, and Architecture.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IEEE Access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11.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400" y="1794508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[8] Nath N.D. i in. (2020). Deep learning for site safety: Real-time detection of personal protective equipment.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Autom. Constr.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112.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8400" y="2279650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[9] Redmon J. i in. (2016). You Only Look Once: Unified, Real-Time Object Detection.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CVPR 2016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8400" y="2764792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[10] Schulzrinne H. i in. (1998). Real Time Streaming Protocol (RTSP).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RFC 2326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8400" y="3249929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[11] Sculley D. i in. (2015). Hidden Technical Debt in Machine Learning Systems.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NeurIPS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28.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8400" y="3735071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[12] Terven J. i in. (2023). A Comprehensive Review of YOLO Architectures in Computer Vision.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Mach. Learn. Knowl. Extr.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5(4).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8400" y="4220208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[13] Wang Z. i in. (2021). Fast Personal Protective Equipment Detection for Real Construction Sites Using Deep Learning Approaches. </a:t>
            </a:r>
            <a:r>
              <a:rPr lang="en-US" sz="1200" i="1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Sensors</a:t>
            </a:r>
            <a:r>
              <a:rPr lang="en-US" sz="1200" dirty="0">
                <a:solidFill>
                  <a:srgbClr val="3D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21(10).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gradFill rotWithShape="1">
            <a:gsLst>
              <a:gs pos="0">
                <a:srgbClr val="F2B705"/>
              </a:gs>
              <a:gs pos="50000">
                <a:srgbClr val="F2B705"/>
              </a:gs>
              <a:gs pos="50000">
                <a:srgbClr val="17212B"/>
              </a:gs>
              <a:gs pos="100000">
                <a:srgbClr val="17212B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2366008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Dziękuję. Pytania?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420108"/>
            <a:ext cx="9810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kamery RTSP → kolejka strumieni → detekcja YOLO na GPU → klasyfikacja naruszeń → GUI, a model uczony i sprawdzany na nagraniach z placu robót.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24307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[Imię Nazwisko] · [e-mail]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zentacja I — wykrywanie naruszeń BHP">
  <a:themeElements>
    <a:clrScheme name="Prezentacja I — wykrywanie naruszeń BHP">
      <a:dk1>
        <a:srgbClr val="17212B"/>
      </a:dk1>
      <a:lt1>
        <a:srgbClr val="F7F5F0"/>
      </a:lt1>
      <a:dk2>
        <a:srgbClr val="4F565C"/>
      </a:dk2>
      <a:lt2>
        <a:srgbClr val="E1E0DC"/>
      </a:lt2>
      <a:accent1>
        <a:srgbClr val="C2410C"/>
      </a:accent1>
      <a:accent2>
        <a:srgbClr val="F2B705"/>
      </a:accent2>
      <a:accent3>
        <a:srgbClr val="3D4A57"/>
      </a:accent3>
      <a:accent4>
        <a:srgbClr val="C9D2DB"/>
      </a:accent4>
      <a:accent5>
        <a:srgbClr val="5B6672"/>
      </a:accent5>
      <a:accent6>
        <a:srgbClr val="9AA0A6"/>
      </a:accent6>
      <a:hlink>
        <a:srgbClr val="0563C1"/>
      </a:hlink>
      <a:folHlink>
        <a:srgbClr val="954F72"/>
      </a:folHlink>
    </a:clrScheme>
    <a:fontScheme name="Prezentacja I — wykrywanie naruszeń BHP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I — wykrywanie naruszeń BHP</dc:title>
  <dc:subject/>
  <dc:creator/>
  <cp:lastModifiedBy/>
  <cp:revision>1</cp:revision>
  <dcterms:created xsi:type="dcterms:W3CDTF">2026-10-10T11:29:37Z</dcterms:created>
  <dcterms:modified xsi:type="dcterms:W3CDTF">2026-10-10T11:29:37Z</dcterms:modified>
</cp:coreProperties>
</file>